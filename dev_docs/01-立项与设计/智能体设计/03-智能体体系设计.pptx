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11887200" cy="5029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794F27"/>
                </a:solidFill>
                <a:latin typeface="Noto Sans SC"/>
              </a:defRPr>
            </a:pPr>
            <a:r>
              <a:t>智能体体系设计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91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F927D"/>
                </a:solidFill>
                <a:latin typeface="Noto Sans SC"/>
              </a:defRPr>
            </a:pPr>
            <a:r>
              <a:t>Claude Code 开发智能体 × AgentScope 产品内 AI 助手 · 路由 · 工作流 · 图解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4754880"/>
            <a:ext cx="228600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7C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25D42"/>
                </a:solidFill>
              </a:defRPr>
            </a:pPr>
            <a:r>
              <a:t>Claude Code / Cursor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4754880"/>
            <a:ext cx="228600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A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25D42"/>
                </a:solidFill>
              </a:defRPr>
            </a:pPr>
            <a:r>
              <a:t>AgentScope :8000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4754880"/>
            <a:ext cx="228600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FB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25D42"/>
                </a:solidFill>
              </a:defRPr>
            </a:pPr>
            <a:r>
              <a:t>6 角色 · 10 Skill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66959" y="4754880"/>
            <a:ext cx="228600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89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25D42"/>
                </a:solidFill>
              </a:defRPr>
            </a:pPr>
            <a:r>
              <a:t>Stage-Gate 咬合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7B66"/>
                </a:solidFill>
                <a:latin typeface="Noto Sans SC"/>
              </a:defRPr>
            </a:pPr>
            <a:r>
              <a:t>Android-AutoTests ·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94F27"/>
                </a:solidFill>
                <a:latin typeface="Noto Sans SC"/>
              </a:defRPr>
            </a:pPr>
            <a:r>
              <a:t>双智能体体系：谁构建、谁运行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6675120" cy="32004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F7C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94F27"/>
                </a:solidFill>
                <a:latin typeface="Noto Sans SC"/>
              </a:defRPr>
            </a:pPr>
            <a:r>
              <a:t>🏗️ Claude Code — 做产品的智能体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7B66"/>
                </a:solidFill>
                <a:latin typeface="Noto Sans SC"/>
              </a:defRPr>
            </a:pPr>
            <a:r>
              <a:t>用户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194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项目开发者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7B66"/>
                </a:solidFill>
                <a:latin typeface="Noto Sans SC"/>
              </a:defRPr>
            </a:pPr>
            <a:r>
              <a:t>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743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写 PRD / 改代码 / 审查 / 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9183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7B66"/>
                </a:solidFill>
                <a:latin typeface="Noto Sans SC"/>
              </a:defRPr>
            </a:pPr>
            <a:r>
              <a:t>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29183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CLAUDE.md 路由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7B66"/>
                </a:solidFill>
                <a:latin typeface="Noto Sans SC"/>
              </a:defRPr>
            </a:pPr>
            <a:r>
              <a:t>操作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84047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文件系统 · Bash / Read / Edit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389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7B66"/>
                </a:solidFill>
                <a:latin typeface="Noto Sans SC"/>
              </a:defRPr>
            </a:pPr>
            <a:r>
              <a:t>产出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389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代码变更 + HTML 报告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1371600"/>
            <a:ext cx="6675120" cy="32004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F8A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554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94F27"/>
                </a:solidFill>
                <a:latin typeface="Noto Sans SC"/>
              </a:defRPr>
            </a:pPr>
            <a:r>
              <a:t>🤖 AgentScope — 用平台的智能体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94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7B66"/>
                </a:solidFill>
                <a:latin typeface="Noto Sans SC"/>
              </a:defRPr>
            </a:pPr>
            <a:r>
              <a:t>用户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194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测试人员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743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7B66"/>
                </a:solidFill>
                <a:latin typeface="Noto Sans SC"/>
              </a:defRPr>
            </a:pPr>
            <a:r>
              <a:t>定位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2743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对话式自动化测试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29183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7B66"/>
                </a:solidFill>
                <a:latin typeface="Noto Sans SC"/>
              </a:defRPr>
            </a:pPr>
            <a:r>
              <a:t>入口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329183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Vue ChatView SSE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8404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7B66"/>
                </a:solidFill>
                <a:latin typeface="Noto Sans SC"/>
              </a:defRPr>
            </a:pPr>
            <a:r>
              <a:t>操作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384047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25 Tool · Django 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389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7B66"/>
                </a:solidFill>
                <a:latin typeface="Noto Sans SC"/>
              </a:defRPr>
            </a:pPr>
            <a:r>
              <a:t>产出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4389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用例 + 执行结果 + 报告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84632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94F27"/>
                </a:solidFill>
                <a:latin typeface="Noto Sans SC"/>
              </a:defRPr>
            </a:pPr>
            <a:r>
              <a:t>关系图：建造者 → 平台 → 内置助手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486400"/>
            <a:ext cx="4389120" cy="1188720"/>
          </a:xfrm>
          <a:prstGeom prst="roundRect">
            <a:avLst/>
          </a:prstGeom>
          <a:solidFill>
            <a:srgbClr val="F7CD67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794F27"/>
                </a:solidFill>
              </a:defRPr>
            </a:pPr>
            <a:r>
              <a:t>Claude Code</a:t>
            </a:r>
            <a:br/>
            <a:r>
              <a:t>建造者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8580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7B66"/>
                </a:solidFill>
                <a:latin typeface="Noto Sans SC"/>
              </a:defRPr>
            </a:pPr>
            <a:r>
              <a:t>改 .vue / .py / Skill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20640" y="5486400"/>
            <a:ext cx="4389120" cy="1188720"/>
          </a:xfrm>
          <a:prstGeom prst="roundRect">
            <a:avLst/>
          </a:prstGeom>
          <a:solidFill>
            <a:srgbClr val="889DF0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Android-AutoTests</a:t>
            </a:r>
            <a:br/>
            <a:r>
              <a:t>平台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68580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7B66"/>
                </a:solidFill>
                <a:latin typeface="Noto Sans SC"/>
              </a:defRPr>
            </a:pPr>
            <a:r>
              <a:t>Vue :5173 · Django :8765 · AgentScope :8000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84080" y="5486400"/>
            <a:ext cx="4389120" cy="1188720"/>
          </a:xfrm>
          <a:prstGeom prst="roundRect">
            <a:avLst/>
          </a:prstGeom>
          <a:solidFill>
            <a:srgbClr val="F8A6B2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AI 助手</a:t>
            </a:r>
            <a:br/>
            <a:r>
              <a:t>建筑物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59" y="68580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7B66"/>
                </a:solidFill>
                <a:latin typeface="Noto Sans SC"/>
              </a:defRPr>
            </a:pPr>
            <a:r>
              <a:t>读写业务 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7589520"/>
            <a:ext cx="137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7B66"/>
                </a:solidFill>
                <a:latin typeface="Noto Sans SC"/>
              </a:defRPr>
            </a:pPr>
            <a:r>
              <a:t>共享 JWT / Rules 知识；Claude 不碰业务库，AgentScope 不碰源码。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0" y="7680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94F27"/>
                </a:solidFill>
                <a:latin typeface="Noto Sans SC"/>
              </a:defRPr>
            </a:pPr>
            <a:r>
              <a:t>Claude Code · 六角色路由与接力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94F27"/>
                </a:solidFill>
                <a:latin typeface="Noto Sans SC"/>
              </a:defRPr>
            </a:pPr>
            <a:r>
              <a:t>调度优先级（CLAUDE.md）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828800"/>
            <a:ext cx="1737360" cy="640080"/>
          </a:xfrm>
          <a:prstGeom prst="roundRect">
            <a:avLst/>
          </a:prstGeom>
          <a:solidFill>
            <a:srgbClr val="F5C31C"/>
          </a:solidFill>
          <a:ln w="19050">
            <a:solidFill>
              <a:srgbClr val="F5C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94F27"/>
                </a:solidFill>
              </a:defRPr>
            </a:pPr>
            <a:r>
              <a:t>需求？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828800"/>
            <a:ext cx="173736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7C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94F27"/>
                </a:solidFill>
              </a:defRPr>
            </a:pPr>
            <a:r>
              <a:t>prd-writer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1737360" cy="640080"/>
          </a:xfrm>
          <a:prstGeom prst="roundRect">
            <a:avLst/>
          </a:prstGeom>
          <a:solidFill>
            <a:srgbClr val="B39EF3"/>
          </a:solidFill>
          <a:ln w="19050">
            <a:solidFill>
              <a:srgbClr val="B39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94F27"/>
                </a:solidFill>
              </a:defRPr>
            </a:pPr>
            <a:r>
              <a:t>复杂？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173736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89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94F27"/>
                </a:solidFill>
              </a:defRPr>
            </a:pPr>
            <a:r>
              <a:t>architect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828800"/>
            <a:ext cx="1737360" cy="640080"/>
          </a:xfrm>
          <a:prstGeom prst="roundRect">
            <a:avLst/>
          </a:prstGeom>
          <a:solidFill>
            <a:srgbClr val="6FBA2C"/>
          </a:solidFill>
          <a:ln w="19050">
            <a:solidFill>
              <a:srgbClr val="6FB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94F27"/>
                </a:solidFill>
              </a:defRPr>
            </a:pPr>
            <a:r>
              <a:t>developer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20" y="1828800"/>
            <a:ext cx="173736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C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94F27"/>
                </a:solidFill>
              </a:defRPr>
            </a:pPr>
            <a:r>
              <a:t>reviewer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0" y="1828800"/>
            <a:ext cx="1737360" cy="640080"/>
          </a:xfrm>
          <a:prstGeom prst="roundRect">
            <a:avLst/>
          </a:prstGeom>
          <a:solidFill>
            <a:srgbClr val="F8A6B2"/>
          </a:solidFill>
          <a:ln w="19050">
            <a:solidFill>
              <a:srgbClr val="F8A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94F27"/>
                </a:solidFill>
              </a:defRPr>
            </a:pPr>
            <a:r>
              <a:t>tester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137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7B66"/>
                </a:solidFill>
                <a:latin typeface="Noto Sans SC"/>
              </a:defRPr>
            </a:pPr>
            <a:r>
              <a:t>日常小改可直达 developer（auto-dev）；test-automator 在需要脚本化时上场。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94F27"/>
                </a:solidFill>
                <a:latin typeface="Noto Sans SC"/>
              </a:defRPr>
            </a:pPr>
            <a:r>
              <a:t>泳道：一条需求怎么接力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40480"/>
            <a:ext cx="2011680" cy="502920"/>
          </a:xfrm>
          <a:prstGeom prst="roundRect">
            <a:avLst/>
          </a:prstGeom>
          <a:solidFill>
            <a:srgbClr val="F7CD67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94F27"/>
                </a:solidFill>
              </a:defRPr>
            </a:pPr>
            <a:r>
              <a:t>prd-writer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931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澄清 Why/How/AC → 写子 PRD → Gate 1 心智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480560"/>
            <a:ext cx="2011680" cy="502920"/>
          </a:xfrm>
          <a:prstGeom prst="roundRect">
            <a:avLst/>
          </a:prstGeom>
          <a:solidFill>
            <a:srgbClr val="889DF0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94F27"/>
                </a:solidFill>
              </a:defRPr>
            </a:pPr>
            <a:r>
              <a:t>architect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572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影响面 → 契约/协议 → 阶段拆分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120640"/>
            <a:ext cx="2011680" cy="502920"/>
          </a:xfrm>
          <a:prstGeom prst="roundRect">
            <a:avLst/>
          </a:prstGeom>
          <a:solidFill>
            <a:srgbClr val="6FBA2C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94F27"/>
                </a:solidFill>
              </a:defRPr>
            </a:pPr>
            <a:r>
              <a:t>developer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521207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auto-dev → 编码+编译 → 浏览器验证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760720"/>
            <a:ext cx="2011680" cy="502920"/>
          </a:xfrm>
          <a:prstGeom prst="roundRect">
            <a:avLst/>
          </a:prstGeom>
          <a:solidFill>
            <a:srgbClr val="19C8B9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94F27"/>
                </a:solidFill>
              </a:defRPr>
            </a:pPr>
            <a:r>
              <a:t>reviewer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85215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P0–P3 → 安全/契约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6400800"/>
            <a:ext cx="2011680" cy="502920"/>
          </a:xfrm>
          <a:prstGeom prst="roundRect">
            <a:avLst/>
          </a:prstGeom>
          <a:solidFill>
            <a:srgbClr val="F8A6B2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94F27"/>
                </a:solidFill>
              </a:defRPr>
            </a:pPr>
            <a:r>
              <a:t>tester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环境探测 → 分层测 → 报告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7040880"/>
            <a:ext cx="2011680" cy="502920"/>
          </a:xfrm>
          <a:prstGeom prst="roundRect">
            <a:avLst/>
          </a:prstGeom>
          <a:solidFill>
            <a:srgbClr val="B39EF3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94F27"/>
                </a:solidFill>
              </a:defRPr>
            </a:pPr>
            <a:r>
              <a:t>automator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7132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DB/API/UI 脚本 → tests/functional/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0" y="7680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94F27"/>
                </a:solidFill>
                <a:latin typeface="Noto Sans SC"/>
              </a:defRPr>
            </a:pPr>
            <a:r>
              <a:t>Claude Code Agent — Auto-Dev 7 阶段工作流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1874519" cy="2377440"/>
          </a:xfrm>
          <a:prstGeom prst="roundRect">
            <a:avLst/>
          </a:prstGeom>
          <a:solidFill>
            <a:srgbClr val="F8A6B2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-1</a:t>
            </a:r>
            <a:br/>
            <a:r>
              <a:t>需求提炼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1691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25D42"/>
                </a:solidFill>
                <a:latin typeface="Noto Sans SC"/>
              </a:defRPr>
            </a:pPr>
            <a:r>
              <a:t>领域映射→只读探索→</a:t>
            </a:r>
            <a:br/>
            <a:r>
              <a:t>1-3候选方案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31720" y="1371600"/>
            <a:ext cx="1874519" cy="2377440"/>
          </a:xfrm>
          <a:prstGeom prst="roundRect">
            <a:avLst/>
          </a:prstGeom>
          <a:solidFill>
            <a:srgbClr val="F5C31C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94F27"/>
                </a:solidFill>
              </a:defRPr>
            </a:pPr>
            <a:r>
              <a:t>Phase 0</a:t>
            </a:r>
            <a:br/>
            <a:r>
              <a:t>探索（只读）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3160" y="2743200"/>
            <a:ext cx="1691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25D42"/>
                </a:solidFill>
                <a:latin typeface="Noto Sans SC"/>
              </a:defRPr>
            </a:pPr>
            <a:r>
              <a:t>并行定位文件+依赖</a:t>
            </a:r>
            <a:br/>
            <a:r>
              <a:t>判定Lite/Standard/Strict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1874519" cy="2377440"/>
          </a:xfrm>
          <a:prstGeom prst="roundRect">
            <a:avLst/>
          </a:prstGeom>
          <a:solidFill>
            <a:srgbClr val="F8A6B2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1</a:t>
            </a:r>
            <a:br/>
            <a:r>
              <a:t>方案（需审批）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59" y="2743200"/>
            <a:ext cx="1691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25D42"/>
                </a:solidFill>
                <a:latin typeface="Noto Sans SC"/>
              </a:defRPr>
            </a:pPr>
            <a:r>
              <a:t>目标·文件清单·P0/P1</a:t>
            </a:r>
            <a:br/>
            <a:r>
              <a:t>未批准不得改代码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371600"/>
            <a:ext cx="1874519" cy="2377440"/>
          </a:xfrm>
          <a:prstGeom prst="roundRect">
            <a:avLst/>
          </a:prstGeom>
          <a:solidFill>
            <a:srgbClr val="6FBA2C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2</a:t>
            </a:r>
            <a:br/>
            <a:r>
              <a:t>编码（自动）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59" y="2743200"/>
            <a:ext cx="1691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25D42"/>
                </a:solidFill>
                <a:latin typeface="Noto Sans SC"/>
              </a:defRPr>
            </a:pPr>
            <a:r>
              <a:t>逐文件修改→ruff/prettier</a:t>
            </a:r>
            <a:br/>
            <a:r>
              <a:t>→编译→失败自修≤3次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371600"/>
            <a:ext cx="1874519" cy="2377440"/>
          </a:xfrm>
          <a:prstGeom prst="roundRect">
            <a:avLst/>
          </a:prstGeom>
          <a:solidFill>
            <a:srgbClr val="889DF0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3</a:t>
            </a:r>
            <a:br/>
            <a:r>
              <a:t>审查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743200"/>
            <a:ext cx="1691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25D42"/>
                </a:solidFill>
                <a:latin typeface="Noto Sans SC"/>
              </a:defRPr>
            </a:pPr>
            <a:r>
              <a:t>Lite:ruff+语义</a:t>
            </a:r>
            <a:br/>
            <a:r>
              <a:t>Standard:齿轮1+2</a:t>
            </a:r>
            <a:br/>
            <a:r>
              <a:t>Strict:全四齿轮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61320" y="1371600"/>
            <a:ext cx="1874519" cy="2377440"/>
          </a:xfrm>
          <a:prstGeom prst="roundRect">
            <a:avLst/>
          </a:prstGeom>
          <a:solidFill>
            <a:srgbClr val="B39EF3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4</a:t>
            </a:r>
            <a:br/>
            <a:r>
              <a:t>测试（降级）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60" y="2743200"/>
            <a:ext cx="1691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25D42"/>
                </a:solidFill>
                <a:latin typeface="Noto Sans SC"/>
              </a:defRPr>
            </a:pPr>
            <a:r>
              <a:t>5秒环境探测→</a:t>
            </a:r>
            <a:br/>
            <a:r>
              <a:t>全就绪端到端/</a:t>
            </a:r>
            <a:br/>
            <a:r>
              <a:t>无设备API契约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618720" y="1371600"/>
            <a:ext cx="1874519" cy="2377440"/>
          </a:xfrm>
          <a:prstGeom prst="roundRect">
            <a:avLst/>
          </a:prstGeom>
          <a:solidFill>
            <a:srgbClr val="6FBA2C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5</a:t>
            </a:r>
            <a:br/>
            <a:r>
              <a:t>交付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710160" y="2743200"/>
            <a:ext cx="1691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25D42"/>
                </a:solidFill>
                <a:latin typeface="Noto Sans SC"/>
              </a:defRPr>
            </a:pPr>
            <a:r>
              <a:t>摘要+审查/测试结果</a:t>
            </a:r>
            <a:br/>
            <a:r>
              <a:t>Standard/Strict输出HTML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023360"/>
            <a:ext cx="13716000" cy="640080"/>
          </a:xfrm>
          <a:prstGeom prst="roundRect">
            <a:avLst/>
          </a:prstGeom>
          <a:solidFill>
            <a:srgbClr val="E05A5A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4023360"/>
            <a:ext cx="13716000" cy="640080"/>
          </a:xfrm>
          <a:prstGeom prst="roundRect">
            <a:avLst/>
          </a:prstGeom>
          <a:solidFill>
            <a:srgbClr val="E05A5A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🔄 Feedback 旁路：用户反馈 → 症状分类 → 四层下钻 → 定位报告 → 回到 Phase 1 正常流水线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93776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94F27"/>
                </a:solidFill>
                <a:latin typeface="Noto Sans SC"/>
              </a:defRPr>
            </a:pPr>
            <a:r>
              <a:t>各阶段详情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486400"/>
            <a:ext cx="6766560" cy="59436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532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94F27"/>
                </a:solidFill>
                <a:latin typeface="Noto Sans SC"/>
              </a:defRPr>
            </a:pPr>
            <a:r>
              <a:t>Phase -1 需求提炼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55321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7B66"/>
                </a:solidFill>
                <a:latin typeface="Noto Sans SC"/>
              </a:defRPr>
            </a:pPr>
            <a:r>
              <a:t>领域映射→只读探索→输出1-3个候选方案（文件数/预估时间/推荐）→用户选定后进Phase 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5486400"/>
            <a:ext cx="6766560" cy="59436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59" y="5532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94F27"/>
                </a:solidFill>
                <a:latin typeface="Noto Sans SC"/>
              </a:defRPr>
            </a:pPr>
            <a:r>
              <a:t>Phase 0 探索（只读）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59" y="55321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7B66"/>
                </a:solidFill>
                <a:latin typeface="Noto Sans SC"/>
              </a:defRPr>
            </a:pPr>
            <a:r>
              <a:t>并行定位文件+依赖+关键字；判定Lite/Standard/Strict；初始化workflow-manifest.json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172200"/>
            <a:ext cx="6766560" cy="59436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217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94F27"/>
                </a:solidFill>
                <a:latin typeface="Noto Sans SC"/>
              </a:defRPr>
            </a:pPr>
            <a:r>
              <a:t>Phase 1 方案（需审批）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62179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7B66"/>
                </a:solidFill>
                <a:latin typeface="Noto Sans SC"/>
              </a:defRPr>
            </a:pPr>
            <a:r>
              <a:t>目标·文件清单·P0/P1步骤·风险·验证方式。未批准不得改代码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79" y="6172200"/>
            <a:ext cx="6766560" cy="59436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59" y="6217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94F27"/>
                </a:solidFill>
                <a:latin typeface="Noto Sans SC"/>
              </a:defRPr>
            </a:pPr>
            <a:r>
              <a:t>Phase 2 编码（自动）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59" y="62179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7B66"/>
                </a:solidFill>
                <a:latin typeface="Noto Sans SC"/>
              </a:defRPr>
            </a:pPr>
            <a:r>
              <a:t>逐文件修改→ruff/prettier→vite build/manage.py check→失败自修最多3次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6858000"/>
            <a:ext cx="6766560" cy="59436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6903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94F27"/>
                </a:solidFill>
                <a:latin typeface="Noto Sans SC"/>
              </a:defRPr>
            </a:pPr>
            <a:r>
              <a:t>Phase 3 审查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69037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7B66"/>
                </a:solidFill>
                <a:latin typeface="Noto Sans SC"/>
              </a:defRPr>
            </a:pPr>
            <a:r>
              <a:t>Lite: ruff+语义 · Standard: quality-gate 齿轮1+2 · Strict: 全四齿轮+架构审查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98079" y="6858000"/>
            <a:ext cx="6766560" cy="59436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59" y="6903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94F27"/>
                </a:solidFill>
                <a:latin typeface="Noto Sans SC"/>
              </a:defRPr>
            </a:pPr>
            <a:r>
              <a:t>Phase 4 测试（降级）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59" y="69037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7B66"/>
                </a:solidFill>
                <a:latin typeface="Noto Sans SC"/>
              </a:defRPr>
            </a:pPr>
            <a:r>
              <a:t>5秒环境探测→全就绪端到端/无设备API契约/全不可用静态分析；须浏览器看页面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7543800"/>
            <a:ext cx="6766560" cy="59436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7589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94F27"/>
                </a:solidFill>
                <a:latin typeface="Noto Sans SC"/>
              </a:defRPr>
            </a:pPr>
            <a:r>
              <a:t>Phase 5 交付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8880" y="75895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7B66"/>
                </a:solidFill>
                <a:latin typeface="Noto Sans SC"/>
              </a:defRPr>
            </a:pPr>
            <a:r>
              <a:t>摘要+审查/测试结果；Standard/Strict输出HTML到tests/functional/{module}/reports/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0" y="7680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94F27"/>
                </a:solidFill>
                <a:latin typeface="Noto Sans SC"/>
              </a:defRPr>
            </a:pPr>
            <a:r>
              <a:t>三档强度判定（Phase 0 规则引擎）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4389120" cy="2743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F7C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94F27"/>
                </a:solidFill>
                <a:latin typeface="Noto Sans SC"/>
              </a:defRPr>
            </a:pPr>
            <a:r>
              <a:t>🪶 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• 1文件 ≤50行 / 修Bug / 文案 / 注解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• 阶段：探索→方案→编码→Review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• 审查：终端打印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• 无 HTML 报告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371600"/>
            <a:ext cx="4389120" cy="2743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19C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59" y="15544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94F27"/>
                </a:solidFill>
                <a:latin typeface="Noto Sans SC"/>
              </a:defRPr>
            </a:pPr>
            <a:r>
              <a:t>🛡️ Standard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59" y="21945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• 2–3文件 / 50–200行 / 单模块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59" y="26517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• 阶段：…→Review→测试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59" y="31089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• 审查：quality-gate 齿轮 1+2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59" y="35661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• 输出 HTML 报告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80" y="1371600"/>
            <a:ext cx="4389120" cy="2743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B39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0" y="15544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94F27"/>
                </a:solidFill>
                <a:latin typeface="Noto Sans SC"/>
              </a:defRPr>
            </a:pPr>
            <a:r>
              <a:t>🏛️ Strict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21945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• 新模块 / 跨模块 / API / &gt;200行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26517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• 阶段：…→测试→架构审查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31089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• 审查：四齿轮全开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5661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• HTML ×2（质量+架构）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38912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94F27"/>
                </a:solidFill>
                <a:latin typeface="Noto Sans SC"/>
              </a:defRPr>
            </a:pPr>
            <a:r>
              <a:t>判定决策树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37760"/>
            <a:ext cx="2926080" cy="640080"/>
          </a:xfrm>
          <a:prstGeom prst="roundRect">
            <a:avLst/>
          </a:prstGeom>
          <a:solidFill>
            <a:srgbClr val="F7CD67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794F27"/>
                </a:solidFill>
              </a:defRPr>
            </a:pPr>
            <a:r>
              <a:t>需求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937760"/>
            <a:ext cx="2926080" cy="640080"/>
          </a:xfrm>
          <a:prstGeom prst="roundRect">
            <a:avLst/>
          </a:prstGeom>
          <a:solidFill>
            <a:srgbClr val="F5C31C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794F27"/>
                </a:solidFill>
              </a:defRPr>
            </a:pPr>
            <a:r>
              <a:t>新模块/API</a:t>
            </a:r>
            <a:br/>
            <a:r>
              <a:t>跨模块？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4937760"/>
            <a:ext cx="2926080" cy="640080"/>
          </a:xfrm>
          <a:prstGeom prst="roundRect">
            <a:avLst/>
          </a:prstGeom>
          <a:solidFill>
            <a:srgbClr val="B39EF3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794F27"/>
                </a:solidFill>
              </a:defRPr>
            </a:pPr>
            <a:r>
              <a:t>是 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0" y="4937760"/>
            <a:ext cx="2926080" cy="640080"/>
          </a:xfrm>
          <a:prstGeom prst="roundRect">
            <a:avLst/>
          </a:prstGeom>
          <a:solidFill>
            <a:srgbClr val="B39EF3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794F27"/>
                </a:solidFill>
              </a:defRPr>
            </a:pPr>
            <a:r>
              <a:t>Strict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760720"/>
            <a:ext cx="2560320" cy="64008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F5C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94F27"/>
                </a:solidFill>
              </a:defRPr>
            </a:pPr>
            <a:r>
              <a:t>否 · 2–3文件？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0" y="5760720"/>
            <a:ext cx="2560320" cy="640080"/>
          </a:xfrm>
          <a:prstGeom prst="roundRect">
            <a:avLst/>
          </a:prstGeom>
          <a:solidFill>
            <a:srgbClr val="19C8B9"/>
          </a:solidFill>
          <a:ln w="19050">
            <a:solidFill>
              <a:srgbClr val="19C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94F27"/>
                </a:solidFill>
              </a:defRPr>
            </a:pPr>
            <a:r>
              <a:t>是 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5760720"/>
            <a:ext cx="2560320" cy="64008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19C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94F27"/>
                </a:solidFill>
              </a:defRPr>
            </a:pPr>
            <a:r>
              <a:t>Standard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0" y="5760720"/>
            <a:ext cx="2560320" cy="640080"/>
          </a:xfrm>
          <a:prstGeom prst="roundRect">
            <a:avLst/>
          </a:prstGeom>
          <a:solidFill>
            <a:srgbClr val="F7CD67"/>
          </a:solidFill>
          <a:ln w="19050">
            <a:solidFill>
              <a:srgbClr val="F7C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94F27"/>
                </a:solidFill>
              </a:defRPr>
            </a:pPr>
            <a:r>
              <a:t>否 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95760" y="5760720"/>
            <a:ext cx="2560320" cy="64008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F7C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94F27"/>
                </a:solidFill>
              </a:defRPr>
            </a:pPr>
            <a:r>
              <a:t>Lite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675120"/>
            <a:ext cx="137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7B66"/>
                </a:solidFill>
                <a:latin typeface="Noto Sans SC"/>
              </a:defRPr>
            </a:pPr>
            <a:r>
              <a:t>置信度低 → 对比方案让人选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0" y="7680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94F27"/>
                </a:solidFill>
                <a:latin typeface="Noto Sans SC"/>
              </a:defRPr>
            </a:pPr>
            <a:r>
              <a:t>场景：Bug 修复与反馈闭环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2651760" cy="1188720"/>
          </a:xfrm>
          <a:prstGeom prst="roundRect">
            <a:avLst/>
          </a:prstGeom>
          <a:solidFill>
            <a:srgbClr val="F8A6B2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794F27"/>
                </a:solidFill>
              </a:defRPr>
            </a:pPr>
            <a:r>
              <a:t>用户反馈</a:t>
            </a:r>
            <a:br/>
            <a:r>
              <a:t>"点保存没反应"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54679" y="1371600"/>
            <a:ext cx="2651760" cy="1188720"/>
          </a:xfrm>
          <a:prstGeom prst="roundRect">
            <a:avLst/>
          </a:prstGeom>
          <a:solidFill>
            <a:srgbClr val="889DF0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794F27"/>
                </a:solidFill>
              </a:defRPr>
            </a:pPr>
            <a:r>
              <a:t>F1 症状分类</a:t>
            </a:r>
            <a:br/>
            <a:r>
              <a:t>"点按钮没反应"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371600"/>
            <a:ext cx="2651760" cy="1188720"/>
          </a:xfrm>
          <a:prstGeom prst="roundRect">
            <a:avLst/>
          </a:prstGeom>
          <a:solidFill>
            <a:srgbClr val="6FBA2C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794F27"/>
                </a:solidFill>
              </a:defRPr>
            </a:pPr>
            <a:r>
              <a:t>F2 四层下钻</a:t>
            </a:r>
            <a:br/>
            <a:r>
              <a:t>浏览器→前端→API→DB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1371600"/>
            <a:ext cx="2651760" cy="1188720"/>
          </a:xfrm>
          <a:prstGeom prst="roundRect">
            <a:avLst/>
          </a:prstGeom>
          <a:solidFill>
            <a:srgbClr val="19C8B9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794F27"/>
                </a:solidFill>
              </a:defRPr>
            </a:pPr>
            <a:r>
              <a:t>F3 定位报告</a:t>
            </a:r>
            <a:br/>
            <a:r>
              <a:t>根因+证据+方案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795760" y="1371600"/>
            <a:ext cx="2651760" cy="1188720"/>
          </a:xfrm>
          <a:prstGeom prst="roundRect">
            <a:avLst/>
          </a:prstGeom>
          <a:solidFill>
            <a:srgbClr val="F5C31C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794F27"/>
                </a:solidFill>
              </a:defRPr>
            </a:pPr>
            <a:r>
              <a:t>回到 Phase 1</a:t>
            </a:r>
            <a:br/>
            <a:r>
              <a:t>正常开发流水线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6675120" cy="256032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94F27"/>
                </a:solidFill>
                <a:latin typeface="Noto Sans SC"/>
              </a:defRPr>
            </a:pPr>
            <a:r>
              <a:t>四层排查工具链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L1  浏览器 · DevTools → Console / 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605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L2  前端编译 · npx vite build / curl :5173/src/...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634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L3  API · curl :8765/api/... / tail logs/backend.log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663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L4  数据库 · manage.py shell + ORM 查询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2926080"/>
            <a:ext cx="6675120" cy="256032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1089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94F27"/>
                </a:solidFill>
                <a:latin typeface="Noto Sans SC"/>
              </a:defRPr>
            </a:pPr>
            <a:r>
              <a:t>错误反思触发规则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657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→ 第 2 次：提醒用户建议加规则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1605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⚠ 第 3 次：强制写入 .claude/rules/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6634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● 第 4 次+：新规则 + 检查旧规则是否失效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1663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例：catch 静默吞错 ×3 → 写入 frontend.md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94360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F927D"/>
                </a:solidFill>
                <a:latin typeface="Noto Sans SC"/>
              </a:defRPr>
            </a:pPr>
            <a:r>
              <a:t>交付后用户说「不对」→ 不猜、不重开大需求，走 Feedback 专用路径，定位后再回到 Phase 1 正常流水线。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0" y="7680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94F27"/>
                </a:solidFill>
                <a:latin typeface="Noto Sans SC"/>
              </a:defRPr>
            </a:pPr>
            <a:r>
              <a:t>与 Stage-Gate 文档漏斗如何咬合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103120" cy="22860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6FB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8720" y="1554480"/>
            <a:ext cx="548640" cy="548640"/>
          </a:xfrm>
          <a:prstGeom prst="ellipse">
            <a:avLst/>
          </a:prstGeom>
          <a:solidFill>
            <a:srgbClr val="6FB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94F27"/>
                </a:solidFill>
                <a:latin typeface="Noto Sans SC"/>
              </a:defRPr>
            </a:pPr>
            <a:r>
              <a:t>立项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人 + 调研扩写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371600"/>
            <a:ext cx="2103120" cy="22860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19C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520439" y="1554480"/>
            <a:ext cx="548640" cy="548640"/>
          </a:xfrm>
          <a:prstGeom prst="ellipse">
            <a:avLst/>
          </a:prstGeom>
          <a:solidFill>
            <a:srgbClr val="19C8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79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94F27"/>
                </a:solidFill>
                <a:latin typeface="Noto Sans SC"/>
              </a:defRPr>
            </a:pPr>
            <a:r>
              <a:t>PRD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79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prd-writer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79" y="3108960"/>
            <a:ext cx="1280160" cy="36576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E0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5A5A"/>
                </a:solidFill>
              </a:defRPr>
            </a:pPr>
            <a:r>
              <a:t>Gate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371600"/>
            <a:ext cx="2103120" cy="22860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52159" y="1554480"/>
            <a:ext cx="548640" cy="548640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94F27"/>
                </a:solidFill>
                <a:latin typeface="Noto Sans SC"/>
              </a:defRPr>
            </a:pPr>
            <a:r>
              <a:t>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architect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3108960"/>
            <a:ext cx="1280160" cy="36576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E0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5A5A"/>
                </a:solidFill>
              </a:defRPr>
            </a:pPr>
            <a:r>
              <a:t>Gate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59" y="1371600"/>
            <a:ext cx="2103120" cy="22860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B39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183879" y="1554480"/>
            <a:ext cx="548640" cy="548640"/>
          </a:xfrm>
          <a:prstGeom prst="ellipse">
            <a:avLst/>
          </a:prstGeom>
          <a:solidFill>
            <a:srgbClr val="B39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19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94F27"/>
                </a:solidFill>
                <a:latin typeface="Noto Sans SC"/>
              </a:defRPr>
            </a:pPr>
            <a:r>
              <a:t>拆分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9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architect · Issues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1371600"/>
            <a:ext cx="2103120" cy="22860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784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0" y="1554480"/>
            <a:ext cx="548640" cy="548640"/>
          </a:xfrm>
          <a:prstGeom prst="ellipse">
            <a:avLst/>
          </a:prstGeom>
          <a:solidFill>
            <a:srgbClr val="C78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94F27"/>
                </a:solidFill>
                <a:latin typeface="Noto Sans SC"/>
              </a:defRPr>
            </a:pPr>
            <a:r>
              <a:t>开发测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dev→review→test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49840" y="3108960"/>
            <a:ext cx="1280160" cy="36576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E0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5A5A"/>
                </a:solidFill>
              </a:defRPr>
            </a:pPr>
            <a:r>
              <a:t>Gate 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115800" y="1371600"/>
            <a:ext cx="2103120" cy="22860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E0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47320" y="1554480"/>
            <a:ext cx="548640" cy="548640"/>
          </a:xfrm>
          <a:prstGeom prst="ellipse">
            <a:avLst/>
          </a:prstGeom>
          <a:solidFill>
            <a:srgbClr val="E0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5296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94F27"/>
                </a:solidFill>
                <a:latin typeface="Noto Sans SC"/>
              </a:defRPr>
            </a:pPr>
            <a:r>
              <a:t>复盘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52960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github · Memory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11480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7B66"/>
                </a:solidFill>
                <a:latin typeface="Noto Sans SC"/>
              </a:defRPr>
            </a:pPr>
            <a:r>
              <a:t>文档六阶段是产品漏斗；智能体是「谁在每个阶段干活」。Gate 仍由人签发。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75488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94F27"/>
                </a:solidFill>
                <a:latin typeface="Noto Sans SC"/>
              </a:defRPr>
            </a:pPr>
            <a:r>
              <a:t>Skill · Rules · Memory 分层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394960"/>
            <a:ext cx="13716000" cy="50292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F7C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486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94F27"/>
                </a:solidFill>
                <a:latin typeface="Noto Sans SC"/>
              </a:defRPr>
            </a:pPr>
            <a:r>
              <a:t>① 入口 · CLAUDE.md / AGENTS.md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4864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7B66"/>
                </a:solidFill>
                <a:latin typeface="Noto Sans SC"/>
              </a:defRPr>
            </a:pPr>
            <a:r>
              <a:t>路由表 · 身份 · 验证铁律 · 项目架构真相。决定「找谁」。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989320"/>
            <a:ext cx="13716000" cy="50292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889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6080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94F27"/>
                </a:solidFill>
                <a:latin typeface="Noto Sans SC"/>
              </a:defRPr>
            </a:pPr>
            <a:r>
              <a:t>② Agents · .claude/agents/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6080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7B66"/>
                </a:solidFill>
                <a:latin typeface="Noto Sans SC"/>
              </a:defRPr>
            </a:pPr>
            <a:r>
              <a:t>六角色 system prompt + 工具权限。决定「这个人怎么说话、能用什么工具」。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6583680"/>
            <a:ext cx="13716000" cy="50292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19C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675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94F27"/>
                </a:solidFill>
                <a:latin typeface="Noto Sans SC"/>
              </a:defRPr>
            </a:pPr>
            <a:r>
              <a:t>③ Skills · 可触发专项流程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66751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7B66"/>
                </a:solidFill>
                <a:latin typeface="Noto Sans SC"/>
              </a:defRPr>
            </a:pPr>
            <a:r>
              <a:t>auto-dev · prd-writer · quality-gate · functional-testing · architecture-review …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7178040"/>
            <a:ext cx="13716000" cy="50292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E0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7269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94F27"/>
                </a:solidFill>
                <a:latin typeface="Noto Sans SC"/>
              </a:defRPr>
            </a:pPr>
            <a:r>
              <a:t>④ Rules · 始终生效的硬约束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7269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7B66"/>
                </a:solidFill>
                <a:latin typeface="Noto Sans SC"/>
              </a:defRPr>
            </a:pPr>
            <a:r>
              <a:t>frontend / backend / 防火墙 / JWT / phone-control … 不靠「记得」，靠强制加载。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7772400"/>
            <a:ext cx="13716000" cy="50292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7863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94F27"/>
                </a:solidFill>
                <a:latin typeface="Noto Sans SC"/>
              </a:defRPr>
            </a:pPr>
            <a:r>
              <a:t>⑤ Memory · 教训沉淀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7863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7B66"/>
                </a:solidFill>
                <a:latin typeface="Noto Sans SC"/>
              </a:defRPr>
            </a:pPr>
            <a:r>
              <a:t>新模式 / 用户纠正 / 排查教训 → .claude/memory/ + MEMORY.md 索引。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0" y="7680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94F27"/>
                </a:solidFill>
                <a:latin typeface="Noto Sans SC"/>
              </a:defRPr>
            </a:pPr>
            <a:r>
              <a:t>模块边界防火墙（三道）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4389120" cy="2743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6FB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94F27"/>
                </a:solidFill>
                <a:latin typeface="Noto Sans SC"/>
              </a:defRPr>
            </a:pPr>
            <a:r>
              <a:t>🛡️ 防火墙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94F27"/>
                </a:solidFill>
                <a:latin typeface="Noto Sans SC"/>
              </a:defRPr>
            </a:pPr>
            <a:r>
              <a:t>service.py 互不 import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✅ 跨 App import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✅ 跨 App import api.py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❌ 跨 App import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371600"/>
            <a:ext cx="4389120" cy="2743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F5C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59" y="15544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94F27"/>
                </a:solidFill>
                <a:latin typeface="Noto Sans SC"/>
              </a:defRPr>
            </a:pPr>
            <a:r>
              <a:t>🛡️ 防火墙 #2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59" y="20116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94F27"/>
                </a:solidFill>
                <a:latin typeface="Noto Sans SC"/>
              </a:defRPr>
            </a:pPr>
            <a:r>
              <a:t>读放开，写收敛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59" y="25603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✅ 跨 App SELECT 直接 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59" y="30175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❌ 跨 App INSERT/UPDATE/DELETE 必须走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1371600"/>
            <a:ext cx="4389120" cy="2743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889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0" y="15544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94F27"/>
                </a:solidFill>
                <a:latin typeface="Noto Sans SC"/>
              </a:defRPr>
            </a:pPr>
            <a:r>
              <a:t>🛡️ 防火墙 #3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20116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94F27"/>
                </a:solidFill>
                <a:latin typeface="Noto Sans SC"/>
              </a:defRPr>
            </a:pPr>
            <a:r>
              <a:t>外部访问只走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25603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Vue → HTTP → Django API → 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30175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AgentScope → Tool → ORM/API（同进程）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34747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Admin → ORM → 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38912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94F27"/>
                </a:solidFill>
                <a:latin typeface="Noto Sans SC"/>
              </a:defRPr>
            </a:pPr>
            <a:r>
              <a:t>安全规则 · API Key 生命周期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5029200"/>
            <a:ext cx="2194560" cy="1005840"/>
          </a:xfrm>
          <a:prstGeom prst="roundRect">
            <a:avLst/>
          </a:prstGeom>
          <a:solidFill>
            <a:srgbClr val="6FBA2C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用户输入</a:t>
            </a:r>
            <a:br/>
            <a:r>
              <a:t>明文 Key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51760" y="5029200"/>
            <a:ext cx="2194560" cy="1005840"/>
          </a:xfrm>
          <a:prstGeom prst="roundRect">
            <a:avLst/>
          </a:prstGeom>
          <a:solidFill>
            <a:srgbClr val="19C8B9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encrypt_key()</a:t>
            </a:r>
            <a:br/>
            <a:r>
              <a:t>加密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5029200"/>
            <a:ext cx="2194560" cy="1005840"/>
          </a:xfrm>
          <a:prstGeom prst="roundRect">
            <a:avLst/>
          </a:prstGeom>
          <a:solidFill>
            <a:srgbClr val="F5C31C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94F27"/>
                </a:solidFill>
              </a:defRPr>
            </a:pPr>
            <a:r>
              <a:t>写入 DB</a:t>
            </a:r>
            <a:br/>
            <a:r>
              <a:t>仅存密文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5029200"/>
            <a:ext cx="2194560" cy="1005840"/>
          </a:xfrm>
          <a:prstGeom prst="roundRect">
            <a:avLst/>
          </a:prstGeom>
          <a:solidFill>
            <a:srgbClr val="889DF0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decrypt_key()</a:t>
            </a:r>
            <a:br/>
            <a:r>
              <a:t>后端使用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5029200"/>
            <a:ext cx="2194560" cy="1005840"/>
          </a:xfrm>
          <a:prstGeom prst="roundRect">
            <a:avLst/>
          </a:prstGeom>
          <a:solidFill>
            <a:srgbClr val="F8A6B2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mask_key()</a:t>
            </a:r>
            <a:br/>
            <a:r>
              <a:t>前端脱敏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161520" y="5029200"/>
            <a:ext cx="2194560" cy="1005840"/>
          </a:xfrm>
          <a:prstGeom prst="roundRect">
            <a:avLst/>
          </a:prstGeom>
          <a:solidFill>
            <a:srgbClr val="E05A5A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禁止导出</a:t>
            </a:r>
            <a:br/>
            <a:r>
              <a:t>明文出站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309360"/>
            <a:ext cx="4389120" cy="146304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6FB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922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94F27"/>
                </a:solidFill>
                <a:latin typeface="Noto Sans SC"/>
              </a:defRPr>
            </a:pPr>
            <a:r>
              <a:t>写入时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9494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• 必须 encrypt_key()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7269479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• DB值不得以 sk- 开头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7589519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• 已是mask形态则跳过重写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0640" y="6309360"/>
            <a:ext cx="4389120" cy="146304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F5C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94959" y="64922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94F27"/>
                </a:solidFill>
                <a:latin typeface="Noto Sans SC"/>
              </a:defRPr>
            </a:pPr>
            <a:r>
              <a:t>读取时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59" y="69494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• 列表接口不返回Key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59" y="7269479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• 详情用 mask_key()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59" y="7589519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• 完整Key仅5s揭示窗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84080" y="6309360"/>
            <a:ext cx="4389120" cy="146304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E0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0" y="64922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94F27"/>
                </a:solidFill>
                <a:latin typeface="Noto Sans SC"/>
              </a:defRPr>
            </a:pPr>
            <a:r>
              <a:t>禁止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69494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• 日志打印 Key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7269479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• API响应带完整Key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7589519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• 迁移/备份导出明文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0" y="7680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94F27"/>
                </a:solidFill>
                <a:latin typeface="Noto Sans SC"/>
              </a:defRPr>
            </a:pPr>
            <a:r>
              <a:t>AgentScope Agent — SOP 四阶段（产品内）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246120" cy="1188720"/>
          </a:xfrm>
          <a:prstGeom prst="roundRect">
            <a:avLst/>
          </a:prstGeom>
          <a:solidFill>
            <a:srgbClr val="F7CD67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794F27"/>
                </a:solidFill>
              </a:defRPr>
            </a:pPr>
            <a:r>
              <a:t>阶段 1</a:t>
            </a:r>
            <a:br/>
            <a:r>
              <a:t>需求分析与用例设计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77639" y="1371600"/>
            <a:ext cx="3246120" cy="1188720"/>
          </a:xfrm>
          <a:prstGeom prst="roundRect">
            <a:avLst/>
          </a:prstGeom>
          <a:solidFill>
            <a:srgbClr val="B39EF3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阶段 2</a:t>
            </a:r>
            <a:br/>
            <a:r>
              <a:t>元素准备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371600"/>
            <a:ext cx="3246120" cy="1188720"/>
          </a:xfrm>
          <a:prstGeom prst="roundRect">
            <a:avLst/>
          </a:prstGeom>
          <a:solidFill>
            <a:srgbClr val="19C8B9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阶段 3</a:t>
            </a:r>
            <a:br/>
            <a:r>
              <a:t>用例创建与调试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18520" y="1371600"/>
            <a:ext cx="3246120" cy="1188720"/>
          </a:xfrm>
          <a:prstGeom prst="roundRect">
            <a:avLst/>
          </a:prstGeom>
          <a:solidFill>
            <a:srgbClr val="6FBA2C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阶段 4</a:t>
            </a:r>
            <a:br/>
            <a:r>
              <a:t>任务执行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926080"/>
            <a:ext cx="3291840" cy="118872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94F27"/>
                </a:solidFill>
                <a:latin typeface="Noto Sans SC"/>
              </a:defRPr>
            </a:pPr>
            <a:r>
              <a:t>阶段 1 需求分析与用例设计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Task* + create_test_sop → case_design；方案等用户确认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13632" y="2926080"/>
            <a:ext cx="3291840" cy="118872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96512" y="3063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94F27"/>
                </a:solidFill>
                <a:latin typeface="Noto Sans SC"/>
              </a:defRPr>
            </a:pPr>
            <a:r>
              <a:t>阶段 2 元素准备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6512" y="34747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fetch/search_elements → mapping + gaps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2926080"/>
            <a:ext cx="3291840" cy="118872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4383" y="3063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94F27"/>
                </a:solidFill>
                <a:latin typeface="Noto Sans SC"/>
              </a:defRPr>
            </a:pPr>
            <a:r>
              <a:t>阶段 3 用例创建与调试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44383" y="34747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save + debug 到全部 PASS 才能执行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009376" y="2926080"/>
            <a:ext cx="3291840" cy="118872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92256" y="3063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94F27"/>
                </a:solidFill>
                <a:latin typeface="Noto Sans SC"/>
              </a:defRPr>
            </a:pPr>
            <a:r>
              <a:t>阶段 4 任务执行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92256" y="34747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锁设备 → run_test → 报告 → 必须释放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8912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94F27"/>
                </a:solidFill>
                <a:latin typeface="Noto Sans SC"/>
              </a:defRPr>
            </a:pPr>
            <a:r>
              <a:t>Leader → 5 SubAgent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5029200"/>
            <a:ext cx="2103120" cy="1005840"/>
          </a:xfrm>
          <a:prstGeom prst="roundRect">
            <a:avLst/>
          </a:prstGeom>
          <a:solidFill>
            <a:srgbClr val="F7CD67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94F27"/>
                </a:solidFill>
              </a:defRPr>
            </a:pPr>
            <a:r>
              <a:t>Leader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51760" y="5029200"/>
            <a:ext cx="2103120" cy="1005840"/>
          </a:xfrm>
          <a:prstGeom prst="roundRect">
            <a:avLst/>
          </a:prstGeom>
          <a:solidFill>
            <a:srgbClr val="B39EF3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94F27"/>
                </a:solidFill>
              </a:defRPr>
            </a:pPr>
            <a:r>
              <a:t>element-</a:t>
            </a:r>
            <a:br/>
            <a:r>
              <a:t>inspector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5029200"/>
            <a:ext cx="2103120" cy="1005840"/>
          </a:xfrm>
          <a:prstGeom prst="roundRect">
            <a:avLst/>
          </a:prstGeom>
          <a:solidFill>
            <a:srgbClr val="19C8B9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94F27"/>
                </a:solidFill>
              </a:defRPr>
            </a:pPr>
            <a:r>
              <a:t>case-writer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5029200"/>
            <a:ext cx="2103120" cy="1005840"/>
          </a:xfrm>
          <a:prstGeom prst="roundRect">
            <a:avLst/>
          </a:prstGeom>
          <a:solidFill>
            <a:srgbClr val="6FBA2C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94F27"/>
                </a:solidFill>
              </a:defRPr>
            </a:pPr>
            <a:r>
              <a:t>device-</a:t>
            </a:r>
            <a:br/>
            <a:r>
              <a:t>operator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5029200"/>
            <a:ext cx="2103120" cy="1005840"/>
          </a:xfrm>
          <a:prstGeom prst="roundRect">
            <a:avLst/>
          </a:prstGeom>
          <a:solidFill>
            <a:srgbClr val="F8A6B2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94F27"/>
                </a:solidFill>
              </a:defRPr>
            </a:pPr>
            <a:r>
              <a:t>test-</a:t>
            </a:r>
            <a:br/>
            <a:r>
              <a:t>executor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161520" y="5029200"/>
            <a:ext cx="2103120" cy="1005840"/>
          </a:xfrm>
          <a:prstGeom prst="roundRect">
            <a:avLst/>
          </a:prstGeom>
          <a:solidFill>
            <a:srgbClr val="F5C31C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94F27"/>
                </a:solidFill>
              </a:defRPr>
            </a:pPr>
            <a:r>
              <a:t>report-</a:t>
            </a:r>
            <a:br/>
            <a:r>
              <a:t>writer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0" y="7680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94F27"/>
                </a:solidFill>
                <a:latin typeface="Noto Sans SC"/>
              </a:defRPr>
            </a:pPr>
            <a:r>
              <a:t>查阅入口与总结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94F27"/>
                </a:solidFill>
                <a:latin typeface="Noto Sans SC"/>
              </a:defRPr>
            </a:pPr>
            <a:r>
              <a:t>资源索引（源文件只读）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3716000" cy="475488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019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94F27"/>
                </a:solidFill>
                <a:latin typeface="Noto Sans SC"/>
              </a:defRPr>
            </a:pPr>
            <a:r>
              <a:t>调度入口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901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C8B9"/>
                </a:solidFill>
                <a:latin typeface="Noto Sans SC"/>
              </a:defRPr>
            </a:pPr>
            <a:r>
              <a:t>CLAUDE.md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901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7B66"/>
                </a:solidFill>
                <a:latin typeface="Noto Sans SC"/>
              </a:defRPr>
            </a:pPr>
            <a:r>
              <a:t>路由 · 铁律 · Skills 索引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23160"/>
            <a:ext cx="13716000" cy="475488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963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94F27"/>
                </a:solidFill>
                <a:latin typeface="Noto Sans SC"/>
              </a:defRPr>
            </a:pPr>
            <a:r>
              <a:t>项目真相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4963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C8B9"/>
                </a:solidFill>
                <a:latin typeface="Noto Sans SC"/>
              </a:defRPr>
            </a:pPr>
            <a:r>
              <a:t>AGENTS.md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4963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7B66"/>
                </a:solidFill>
                <a:latin typeface="Noto Sans SC"/>
              </a:defRPr>
            </a:pPr>
            <a:r>
              <a:t>架构 · 防火墙 · API/DB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017520"/>
            <a:ext cx="13716000" cy="475488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906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94F27"/>
                </a:solidFill>
                <a:latin typeface="Noto Sans SC"/>
              </a:defRPr>
            </a:pPr>
            <a:r>
              <a:t>Auto-Dev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0906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C8B9"/>
                </a:solidFill>
                <a:latin typeface="Noto Sans SC"/>
              </a:defRPr>
            </a:pPr>
            <a:r>
              <a:t>.claude/skills/auto-dev/SKILL.md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0906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7B66"/>
                </a:solidFill>
                <a:latin typeface="Noto Sans SC"/>
              </a:defRPr>
            </a:pPr>
            <a:r>
              <a:t>7 阶段权威定义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11880"/>
            <a:ext cx="13716000" cy="475488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6850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94F27"/>
                </a:solidFill>
                <a:latin typeface="Noto Sans SC"/>
              </a:defRPr>
            </a:pPr>
            <a:r>
              <a:t>角色定义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6850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C8B9"/>
                </a:solidFill>
                <a:latin typeface="Noto Sans SC"/>
              </a:defRPr>
            </a:pPr>
            <a:r>
              <a:t>.claude/agents/*.md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685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7B66"/>
                </a:solidFill>
                <a:latin typeface="Noto Sans SC"/>
              </a:defRPr>
            </a:pPr>
            <a:r>
              <a:t>六角色 prompt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06240"/>
            <a:ext cx="13716000" cy="475488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2793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94F27"/>
                </a:solidFill>
                <a:latin typeface="Noto Sans SC"/>
              </a:defRPr>
            </a:pPr>
            <a:r>
              <a:t>结构索引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2793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C8B9"/>
                </a:solidFill>
                <a:latin typeface="Noto Sans SC"/>
              </a:defRPr>
            </a:pPr>
            <a:r>
              <a:t>00-智能体/结构总览.md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2793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7B66"/>
                </a:solidFill>
                <a:latin typeface="Noto Sans SC"/>
              </a:defRPr>
            </a:pPr>
            <a:r>
              <a:t>目录树与对照表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47472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94F27"/>
                </a:solidFill>
                <a:latin typeface="Noto Sans SC"/>
              </a:defRPr>
            </a:pPr>
            <a:r>
              <a:t>智能体体系总览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114800"/>
            <a:ext cx="13716000" cy="438912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1879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94F27"/>
                </a:solidFill>
                <a:latin typeface="Noto Sans SC"/>
              </a:defRPr>
            </a:pPr>
            <a:r>
              <a:t>双体系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187952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Claude Code（开发侧） + AgentScope（产品内）互不交叉，共享 JWT / Rules 知识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617720"/>
            <a:ext cx="13716000" cy="438912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69087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94F27"/>
                </a:solidFill>
                <a:latin typeface="Noto Sans SC"/>
              </a:defRPr>
            </a:pPr>
            <a:r>
              <a:t>六角色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690872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prd-writer → architect → developer → reviewer → tester → test-automator 接力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120640"/>
            <a:ext cx="13716000" cy="438912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1937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94F27"/>
                </a:solidFill>
                <a:latin typeface="Noto Sans SC"/>
              </a:defRPr>
            </a:pPr>
            <a:r>
              <a:t>七阶段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193792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Phase -1(提炼) → Phase 0(探索) → Phase 1(方案审批) → Phase 2(编码自修) → Phase 3(审查) → Phase 4(测试降级) → Phase 5(交付)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623560"/>
            <a:ext cx="13716000" cy="438912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69671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94F27"/>
                </a:solidFill>
                <a:latin typeface="Noto Sans SC"/>
              </a:defRPr>
            </a:pPr>
            <a:r>
              <a:t>三档强度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5696712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Lite（1文件≤50行）→ Standard（2-3文件50-200行）→ Strict（新模块/跨模块/&gt;200行）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6126480"/>
            <a:ext cx="13716000" cy="438912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619963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94F27"/>
                </a:solidFill>
                <a:latin typeface="Noto Sans SC"/>
              </a:defRPr>
            </a:pPr>
            <a:r>
              <a:t>三道防火墙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6199632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service.py互不import | 读放开写收敛 | 外部访问只走API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6629400"/>
            <a:ext cx="13716000" cy="438912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67025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94F27"/>
                </a:solidFill>
                <a:latin typeface="Noto Sans SC"/>
              </a:defRPr>
            </a:pPr>
            <a:r>
              <a:t>SOP四阶段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6702552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需求分析与用例设计 → 元素准备 → 用例创建与调试 → 任务执行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7132320"/>
            <a:ext cx="13716000" cy="438912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720547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94F27"/>
                </a:solidFill>
                <a:latin typeface="Noto Sans SC"/>
              </a:defRPr>
            </a:pPr>
            <a:r>
              <a:t>Stage-Gate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7205472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6 阶段文档漏斗：立项→PRD→设计→拆分→开发测→复盘，Gate由人签发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7589520"/>
            <a:ext cx="137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视觉参考 agent-workflow-report · animal-island-ui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0" y="7680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