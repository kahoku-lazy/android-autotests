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11887200" cy="5029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94F27"/>
                </a:solidFill>
                <a:latin typeface="Noto Sans SC"/>
              </a:defRPr>
            </a:pPr>
            <a:r>
              <a:t>项目开发工作流全景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F927D"/>
                </a:solidFill>
                <a:latin typeface="Noto Sans SC"/>
              </a:defRPr>
            </a:pPr>
            <a:r>
              <a:t>从立项到交付的完整生命周期 · PRD 驱动 · ARCH 约束 · CHECKLIST 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75488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● 立项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75488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● 需求与设计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75488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● 开发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75488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● 发布与评估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4754880"/>
            <a:ext cx="15544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● 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7B66"/>
                </a:solidFill>
                <a:latin typeface="Noto Sans SC"/>
              </a:defRPr>
            </a:pPr>
            <a:r>
              <a:t>Android-AutoTests · 2026-07-16 ·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📊 项目全景 — 关键数据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94F27"/>
                </a:solidFill>
                <a:latin typeface="Noto Sans SC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F927D"/>
                </a:solidFill>
                <a:latin typeface="Noto Sans SC"/>
              </a:defRPr>
            </a:pPr>
            <a:r>
              <a:t>项目阶段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立项→设计→开发→发布→交付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94F27"/>
                </a:solidFill>
                <a:latin typeface="Noto Sans SC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F927D"/>
                </a:solidFill>
                <a:latin typeface="Noto Sans SC"/>
              </a:defRPr>
            </a:pPr>
            <a:r>
              <a:t>文档体系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PRD · ARCH ·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94F27"/>
                </a:solidFill>
                <a:latin typeface="Noto Sans SC"/>
              </a:defRPr>
            </a:pPr>
            <a:r>
              <a:t>267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F927D"/>
                </a:solidFill>
                <a:latin typeface="Noto Sans SC"/>
              </a:defRPr>
            </a:pPr>
            <a:r>
              <a:t>验收项 (PRD)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覆盖 8 个模块的完整验收条件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603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94F27"/>
                </a:solidFill>
                <a:latin typeface="Noto Sans SC"/>
              </a:defRPr>
            </a:pPr>
            <a: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F927D"/>
                </a:solidFill>
                <a:latin typeface="Noto Sans SC"/>
              </a:defRPr>
            </a:pPr>
            <a:r>
              <a:t>检查项 (CHECKLIST)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6 组自检守门员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95760" y="1371600"/>
            <a:ext cx="25603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0" y="1554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94F27"/>
                </a:solidFill>
                <a:latin typeface="Noto Sans SC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86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F927D"/>
                </a:solidFill>
                <a:latin typeface="Noto Sans SC"/>
              </a:defRPr>
            </a:pPr>
            <a:r>
              <a:t>变更级别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🔴大改 🟡增量 🟢修补 ⚪重构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94F27"/>
                </a:solidFill>
                <a:latin typeface="Noto Sans SC"/>
              </a:defRPr>
            </a:pPr>
            <a:r>
              <a:t>📋 五大阶段流程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25603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第一阶段</a:t>
            </a:r>
            <a:br/>
            <a:r>
              <a:t>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产品定位·竞品分析</a:t>
            </a:r>
            <a:br/>
            <a:r>
              <a:t>灵感分析·价值评估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846320"/>
            <a:ext cx="25603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第二阶段</a:t>
            </a:r>
            <a:br/>
            <a:r>
              <a:t>需求与设计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6035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PRD输出·ARCH设计</a:t>
            </a:r>
            <a:br/>
            <a:r>
              <a:t>需求评审·架构评审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846320"/>
            <a:ext cx="25603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第三阶段</a:t>
            </a:r>
            <a:br/>
            <a:r>
              <a:t>项目开发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6035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任务拆分·需求迭代</a:t>
            </a:r>
            <a:br/>
            <a:r>
              <a:t>功能开发·测试验证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846320"/>
            <a:ext cx="25603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第四阶段</a:t>
            </a:r>
            <a:br/>
            <a:r>
              <a:t>发布与评估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6035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全功能验收·风险评估</a:t>
            </a:r>
            <a:br/>
            <a:r>
              <a:t>安全·性能·易用性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95760" y="4846320"/>
            <a:ext cx="2560320" cy="2743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第五阶段</a:t>
            </a:r>
            <a:br/>
            <a:r>
              <a:t>产品交付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6035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部署文档·用户文档</a:t>
            </a:r>
            <a:br/>
            <a:r>
              <a:t>回滚预案·监控告警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一、项目初识阶段 — 第一阶段：立项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30"/>
                </a:solidFill>
                <a:latin typeface="Noto Sans SC"/>
              </a:defRPr>
            </a:pPr>
            <a:r>
              <a:t>1.1 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明确产品定位与用户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为什么要做这个产品？面向哪类用户？哪些客户有需求？输出一句话定位 + 目标用户画像。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30"/>
                </a:solidFill>
                <a:latin typeface="Noto Sans SC"/>
              </a:defRPr>
            </a:pPr>
            <a:r>
              <a:t>1.2 竞品分析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研究竞品技术、设计与思路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研究同类项目的技术栈、架构设计、做得好的与不好的地方。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30"/>
                </a:solidFill>
                <a:latin typeface="Noto Sans SC"/>
              </a:defRPr>
            </a:pPr>
            <a:r>
              <a:t>1.3 灵感分析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从多项目寻找设计灵感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分析多种同类型项目，找设计灵感。思考如何提升用户体验，改善产品交互与功能性。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30936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30"/>
                </a:solidFill>
                <a:latin typeface="Noto Sans SC"/>
              </a:defRPr>
            </a:pPr>
            <a:r>
              <a:t>1.4 价值评估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766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通过竞品市场与收益评估价值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竞品有多少用户？盈利模式是什么？这个赛道是否值得投入？输出立项验证报告。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772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📁 产出物：dev_docs/01-立项与设计/立项验证/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一、项目初识阶段 — 第二阶段：需求与设计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60C0"/>
                </a:solidFill>
                <a:latin typeface="Noto Sans SC"/>
              </a:defRPr>
            </a:pPr>
            <a:r>
              <a:t>2.1 产品需求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输出完整的产品需求文档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需求大纲：项目定位·用户画像·业务逻辑架构·模块交互场景</a:t>
            </a:r>
            <a:br/>
            <a:r>
              <a:t>子模块 PRD：功能定位·页面交互·数据表单·异常场景·功能边界</a:t>
            </a:r>
            <a:br/>
            <a:r>
              <a:t>每个功能点附带验收条件 + 测试方案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60C0"/>
                </a:solidFill>
                <a:latin typeface="Noto Sans SC"/>
              </a:defRPr>
            </a:pPr>
            <a:r>
              <a:t>2.2 架构设计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输出项目架构设计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架构大纲：三层分离·模块依赖·交互边界·部署·设计决策</a:t>
            </a:r>
            <a:br/>
            <a:r>
              <a:t>子模块 ARCH：组件树·API设计·数据模型·交互时序·跨模块通信</a:t>
            </a:r>
            <a:br/>
            <a:r>
              <a:t>技术选型、命名标准、UI 设计素材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60C0"/>
                </a:solidFill>
                <a:latin typeface="Noto Sans SC"/>
              </a:defRPr>
            </a:pPr>
            <a:r>
              <a:t>2.3 需求评审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评审需求文档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需求是否覆盖所有用户场景？验收条件是否可测试？功能边界是否明确？异常场景是否完整？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30936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60C0"/>
                </a:solidFill>
                <a:latin typeface="Noto Sans SC"/>
              </a:defRPr>
            </a:pPr>
            <a:r>
              <a:t>2.4 架构评审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766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评审架构设计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架构三层边界是否清晰？模块间交互是否合理？技术选型是否合适？数据模型是否完整？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772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📁 产出物：dev_docs/02-PRD需求/ + dev_docs/03-设计与架构/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一、项目初识阶段 — 第三阶段：项目开发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📋 任务拆分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188720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📝 需求迭代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188720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💻 功能开发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59" y="1188720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🧪 测试验证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88720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✅ 评审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15800" y="1188720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🔄 复盘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6766560" cy="1737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7B66"/>
                </a:solidFill>
                <a:latin typeface="Noto Sans SC"/>
              </a:defRPr>
            </a:pPr>
            <a:r>
              <a:t>3.1 任务拆分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根据需求与架构拆分任务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按模块拆分开发任务，明确每个任务的输入（PRD功能块）、输出（代码+自测结果）、依赖关系。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011680"/>
            <a:ext cx="6766560" cy="1737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03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7B66"/>
                </a:solidFill>
                <a:latin typeface="Noto Sans SC"/>
              </a:defRPr>
            </a:pPr>
            <a:r>
              <a:t>3.2 需求迭代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需求端负责需求与功能设计迭代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开发过程中发现需求不明确→回PRD补充验收条件。发现功能边界冲突→回需求大纲调整边界定义。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6766560" cy="1737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7B66"/>
                </a:solidFill>
                <a:latin typeface="Noto Sans SC"/>
              </a:defRPr>
            </a:pPr>
            <a:r>
              <a:t>3.3 功能开发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开发端按需求实现功能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代码不偏离架构设计→对照ARCH文档的文件结构。功能正确实现→对照PRD验收条件。写完自测→对照CHECKLIST。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023360"/>
            <a:ext cx="6766560" cy="1737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114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7B66"/>
                </a:solidFill>
                <a:latin typeface="Noto Sans SC"/>
              </a:defRPr>
            </a:pPr>
            <a:r>
              <a:t>3.4 测试验证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测试端根据需求制定方案并验证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00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测试方案来源=PRD中的测试场景（前置→操作→期望）。输出：测试结果+checklist表单。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035040"/>
            <a:ext cx="6766560" cy="1737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7B66"/>
                </a:solidFill>
                <a:latin typeface="Noto Sans SC"/>
              </a:defRPr>
            </a:pPr>
            <a:r>
              <a:t>3.5 三方评审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需求·开发·测试三方信息同步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812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对照进度→确保文档与代码同步→测试结果与开发进度同步。三方中任何一方发现不一致→标记为阻塞项。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6035040"/>
            <a:ext cx="6766560" cy="173736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6126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7B66"/>
                </a:solidFill>
                <a:latin typeface="Noto Sans SC"/>
              </a:defRPr>
            </a:pPr>
            <a:r>
              <a:t>3.6 问题复盘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高频问题、验证问题复盘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812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记录：现象→根因→解决方案→测试方案。同类问题≥3次→新增规则到CHECKLIST或.claude/rules/。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一、项目初识阶段 — 第四阶段：发布与风险评估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6880"/>
                </a:solidFill>
                <a:latin typeface="Noto Sans SC"/>
              </a:defRPr>
            </a:pPr>
            <a:r>
              <a:t>4.1 全功能验收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交付前对照需求验收一遍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以PRD验收条件为基准，逐功能走一遍完整的用户操作流程。核心链路（设备→元素→用例→执行→报告）必须全部通过。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6880"/>
                </a:solidFill>
                <a:latin typeface="Noto Sans SC"/>
              </a:defRPr>
            </a:pPr>
            <a:r>
              <a:t>4.2 风险评估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评估项目发布风险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哪些功能是新增的（高风险）？哪些是修改的（中风险）？哪些未改动（低风险）？有没有跨模块改动（高风险）？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6880"/>
                </a:solidFill>
                <a:latin typeface="Noto Sans SC"/>
              </a:defRPr>
            </a:pPr>
            <a:r>
              <a:t>4.3 安全·性能·稳定性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非功能需求检查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JWT鉴权是否正常？API Key是否正确加密？有没有SQL注入风险？大页面加载是否超过3秒？并发锁定是否安全？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30936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6880"/>
                </a:solidFill>
                <a:latin typeface="Noto Sans SC"/>
              </a:defRPr>
            </a:pPr>
            <a:r>
              <a:t>4.4 易用性检查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766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考虑生产环境的易用性问题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首次使用是否有引导？错误提示是否用户能看懂（无技术术语）？没有设备时是否有清晰的操作指引？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一、项目初识阶段 — 第五阶段：产品交付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C8B9"/>
                </a:solidFill>
                <a:latin typeface="Noto Sans SC"/>
              </a:defRPr>
            </a:pPr>
            <a:r>
              <a:t>5.1 部署文档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部署步骤与依赖清单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环境要求（OS/Python/Node/ADB）、依赖安装（pip/npm）、数据库初始化、Redis配置、一键启动脚本验证。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C8B9"/>
                </a:solidFill>
                <a:latin typeface="Noto Sans SC"/>
              </a:defRPr>
            </a:pPr>
            <a:r>
              <a:t>5.2 用户文档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快速上手指南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从登录到完成第一次测试的完整操作指南。含截图和常见问题解答。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C8B9"/>
                </a:solidFill>
                <a:latin typeface="Noto Sans SC"/>
              </a:defRPr>
            </a:pPr>
            <a:r>
              <a:t>5.3 回滚预案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发布失败的回滚方案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数据库migration回滚步骤、上一版本备份位置、回滚后验证清单。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309360"/>
            <a:ext cx="13716000" cy="13716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C8B9"/>
                </a:solidFill>
                <a:latin typeface="Noto Sans SC"/>
              </a:defRPr>
            </a:pPr>
            <a:r>
              <a:t>5.4 监控与告警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7665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4F27"/>
                </a:solidFill>
                <a:latin typeface="Noto Sans SC"/>
              </a:defRPr>
            </a:pPr>
            <a:r>
              <a:t>上线后的监控指标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关键API错误率、设备连接成功率、执行引擎队列积压、前端页面加载时间。异常时通知谁？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二、项目迭代 — 已有需求与架构后的执行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变更需求流程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🔴/🟡/🟢</a:t>
            </a:r>
            <a:br/>
            <a:r>
              <a:t>判定级别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560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先改 PRD</a:t>
            </a:r>
            <a:br/>
            <a:r>
              <a:t>写验收条件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改 ARCH</a:t>
            </a:r>
            <a:br/>
            <a:r>
              <a:t>(如需要)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560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写代码</a:t>
            </a:r>
            <a:br/>
            <a:r>
              <a:t>对照验收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95760" y="1828800"/>
            <a:ext cx="2560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跑 CHECKLIST</a:t>
            </a:r>
            <a:br/>
            <a:r>
              <a:t>通过→合并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7B66"/>
                </a:solidFill>
                <a:latin typeface="Noto Sans SC"/>
              </a:defRPr>
            </a:pPr>
            <a:r>
              <a:t>核心原则：先改文档，后写代码。PRD是开发的输入来源，不是开发完的回忆录。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代码实现 — 按变更级别执行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6766560" cy="1645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变更级别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🔴 大改：PRD→ARCH→代码全走一遍</a:t>
            </a:r>
            <a:br/>
            <a:r>
              <a:t>🟡 增量：PRD加验收项→代码→跑CHECKLIST</a:t>
            </a:r>
            <a:br/>
            <a:r>
              <a:t>🟢 修补：改代码→检查PRD受影响项</a:t>
            </a:r>
            <a:br/>
            <a:r>
              <a:t>⚪ 重构：改代码→更新ARCH文件路径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480560"/>
            <a:ext cx="6766560" cy="1645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572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Bug修复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937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四层下钻定位：L1浏览器→L2前端编译→L3 API→L4数据库</a:t>
            </a:r>
            <a:br/>
            <a:r>
              <a:t>对照PRD确认"预期行为"vs"实际行为"差异</a:t>
            </a:r>
            <a:br/>
            <a:r>
              <a:t>对照ARCH检查架构边界是否被破坏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测试保障 — 六大检查项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94944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25D42"/>
                </a:solidFill>
              </a:defRPr>
            </a:pPr>
            <a:r>
              <a:t>① 功能有没有问题？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694944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25D42"/>
                </a:solidFill>
              </a:defRPr>
            </a:pPr>
            <a:r>
              <a:t>② 是不是按需求做的？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694944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25D42"/>
                </a:solidFill>
              </a:defRPr>
            </a:pPr>
            <a:r>
              <a:t>③ 架构有没有偏离？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59" y="694944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25D42"/>
                </a:solidFill>
              </a:defRPr>
            </a:pPr>
            <a:r>
              <a:t>④ 改了A，B坏了没？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694944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25D42"/>
                </a:solidFill>
              </a:defRPr>
            </a:pPr>
            <a:r>
              <a:t>⑤ 核心链路通不通？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15800" y="694944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25D42"/>
                </a:solidFill>
              </a:defRPr>
            </a:pPr>
            <a:r>
              <a:t>⑥ 改了文档没有？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三、AI 协作 — 我提需求，你执行，我验收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你提需求 → AI 的工作流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👤 你</a:t>
            </a:r>
            <a:br/>
            <a:r>
              <a:t>提出需求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📖 阅读 PRD</a:t>
            </a:r>
            <a:br/>
            <a:r>
              <a:t>理解上下文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📐 对照 ARCH</a:t>
            </a:r>
            <a:br/>
            <a:r>
              <a:t>设计方案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💻 执行</a:t>
            </a:r>
            <a:br/>
            <a:r>
              <a:t>写代码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🔍 自检</a:t>
            </a:r>
            <a:br/>
            <a:r>
              <a:t>跑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6152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4F27"/>
                </a:solidFill>
              </a:defRPr>
            </a:pPr>
            <a:r>
              <a:t>📋 输出结果</a:t>
            </a:r>
            <a:br/>
            <a:r>
              <a:t>等你验收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AI 使用的项目文档与工具体系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4389120" cy="914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📋 PRD 需求文档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AI理解"做什么"—267条验收条件+101个测试场景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840480"/>
            <a:ext cx="4389120" cy="914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🏗️ ARCH 架构文档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97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AI理解"怎么做"—组件树、API、数据模型、交互时序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840480"/>
            <a:ext cx="4389120" cy="914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9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✅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9" y="4297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AI自检"做对没有"—6组28条检查项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4389120" cy="914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🔧 gen_arch_stats.py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AI自动检测漂移—表数、端点数、Tool数、步骤类型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4937760"/>
            <a:ext cx="4389120" cy="914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5029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📖 技术栈参考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394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命名统一标准、UI设计素材、API契约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4937760"/>
            <a:ext cx="4389120" cy="9144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5029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🤖 .claude/rules/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5394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行为准则、历史高频问题速查、模块边界防火墙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验收措施 — 确保AI按你的想法执行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76656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① 文档先行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676656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② CHECKLIST守门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676656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③ 自动检测不漂移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59" y="676656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④ 变更级别判定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676656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⑤ 先方案后执行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15800" y="6766560"/>
            <a:ext cx="210312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8A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25D42"/>
                </a:solidFill>
              </a:defRPr>
            </a:pPr>
            <a:r>
              <a:t>⑥ 结果对照PRD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四、文档 · 代码 · 验收 铁三角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5603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SC"/>
              </a:defRPr>
            </a:pPr>
            <a:r>
              <a:t>📋 PRD 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267 验收项</a:t>
            </a:r>
            <a:br/>
            <a:r>
              <a:t>功能定位与边界</a:t>
            </a:r>
            <a:br/>
            <a:r>
              <a:t>异常场景与容错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927D"/>
                </a:solidFill>
                <a:latin typeface="Noto Sans SC"/>
              </a:defRPr>
            </a:pPr>
            <a:r>
              <a:t>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256032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SC"/>
              </a:defRPr>
            </a:pPr>
            <a:r>
              <a:t>🏗️ ARCH 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组件树 + API</a:t>
            </a:r>
            <a:br/>
            <a:r>
              <a:t>数据模型 + 交互时序</a:t>
            </a:r>
            <a:br/>
            <a:r>
              <a:t>自动统计附录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927D"/>
                </a:solidFill>
                <a:latin typeface="Noto Sans SC"/>
              </a:defRPr>
            </a:pPr>
            <a:r>
              <a:t>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256032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SC"/>
              </a:defRPr>
            </a:pPr>
            <a:r>
              <a:t>✅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6 组 28 条</a:t>
            </a:r>
            <a:br/>
            <a:r>
              <a:t>4 级变更判定</a:t>
            </a:r>
            <a:br/>
            <a:r>
              <a:t>快速自检 + 完整检查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927D"/>
                </a:solidFill>
                <a:latin typeface="Noto Sans SC"/>
              </a:defRPr>
            </a:pPr>
            <a:r>
              <a:t>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60320" cy="256032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SC"/>
              </a:defRPr>
            </a:pPr>
            <a:r>
              <a:t>💻 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468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apps/ 8 模块</a:t>
            </a:r>
            <a:br/>
            <a:r>
              <a:t>frontend/ 8 模块</a:t>
            </a:r>
            <a:br/>
            <a:r>
              <a:t>agentscope_service/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6716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927D"/>
                </a:solidFill>
                <a:latin typeface="Noto Sans SC"/>
              </a:defRPr>
            </a:pPr>
            <a:r>
              <a:t>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95760" y="1371600"/>
            <a:ext cx="2560320" cy="256032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SC"/>
              </a:defRPr>
            </a:pPr>
            <a:r>
              <a:t>🚀 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0" y="2468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验收通过</a:t>
            </a:r>
            <a:br/>
            <a:r>
              <a:t>文档同步</a:t>
            </a:r>
            <a:br/>
            <a:r>
              <a:t>可追溯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关键文件索引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8B9"/>
                </a:solidFill>
                <a:latin typeface="Noto Sans SC"/>
              </a:defRPr>
            </a:pPr>
            <a:r>
              <a:t>dev_docs/02-PRD需求/需求大纲.md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5D42"/>
                </a:solidFill>
                <a:latin typeface="Noto Sans SC"/>
              </a:defRPr>
            </a:pPr>
            <a:r>
              <a:t>项目定位·用户画像·模块职责边界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需求变更时更新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8B9"/>
                </a:solidFill>
                <a:latin typeface="Noto Sans SC"/>
              </a:defRPr>
            </a:pPr>
            <a:r>
              <a:t>dev_docs/02-PRD需求/PRD-0X-*.md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532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5D42"/>
                </a:solidFill>
                <a:latin typeface="Noto Sans SC"/>
              </a:defRPr>
            </a:pPr>
            <a:r>
              <a:t>8模块功能需求+验收条件+测试方案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553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功能变更时更新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8B9"/>
                </a:solidFill>
                <a:latin typeface="Noto Sans SC"/>
              </a:defRPr>
            </a:pPr>
            <a:r>
              <a:t>dev_docs/03-设计与架构/架构大纲.md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035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5D42"/>
                </a:solidFill>
                <a:latin typeface="Noto Sans SC"/>
              </a:defRPr>
            </a:pPr>
            <a:r>
              <a:t>三层分离·模块依赖图·设计决策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035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架构变更时更新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37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8B9"/>
                </a:solidFill>
                <a:latin typeface="Noto Sans SC"/>
              </a:defRPr>
            </a:pPr>
            <a:r>
              <a:t>dev_docs/03-设计与架构/ARCH-0X-*.md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537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5D42"/>
                </a:solidFill>
                <a:latin typeface="Noto Sans SC"/>
              </a:defRPr>
            </a:pPr>
            <a:r>
              <a:t>8模块技术架构（组件树/API/数据模型）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37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代码结构变更时更新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7040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8B9"/>
                </a:solidFill>
                <a:latin typeface="Noto Sans SC"/>
              </a:defRPr>
            </a:pPr>
            <a:r>
              <a:t>dev_docs/DEVELOPMENT_CHECKLIST.md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7040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5D42"/>
                </a:solidFill>
                <a:latin typeface="Noto Sans SC"/>
              </a:defRPr>
            </a:pPr>
            <a:r>
              <a:t>验收守门员—6组28条+4级变更判定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7040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发现问题模式时更新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7543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C8B9"/>
                </a:solidFill>
                <a:latin typeface="Noto Sans SC"/>
              </a:defRPr>
            </a:pPr>
            <a:r>
              <a:t>tools/gen_arch_stats.py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7543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25D42"/>
                </a:solidFill>
                <a:latin typeface="Noto Sans SC"/>
              </a:defRPr>
            </a:pPr>
            <a:r>
              <a:t>自动统计（表/端点/Tool/步骤类型）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7543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新增统计维度时更新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